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Homicidios</c:v>
          </c:tx>
          <c:spPr>
            <a:solidFill>
              <a:schemeClr val="accent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Guayas</c:v>
              </c:pt>
              <c:pt idx="1">
                <c:v>Manabí</c:v>
              </c:pt>
              <c:pt idx="2">
                <c:v>El Oro</c:v>
              </c:pt>
              <c:pt idx="3">
                <c:v>Los Ríos</c:v>
              </c:pt>
              <c:pt idx="4">
                <c:v>Esmeraldas</c:v>
              </c:pt>
            </c:strLit>
          </c:cat>
          <c:val>
            <c:numLit>
              <c:formatCode>General</c:formatCode>
              <c:ptCount val="5"/>
              <c:pt idx="0">
                <c:v>1521</c:v>
              </c:pt>
              <c:pt idx="1">
                <c:v>471</c:v>
              </c:pt>
              <c:pt idx="2">
                <c:v>432</c:v>
              </c:pt>
              <c:pt idx="3">
                <c:v>409</c:v>
              </c:pt>
              <c:pt idx="4">
                <c:v>129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4F8-4CE9-B1EF-CF805C45E471}"/>
            </c:ext>
          </c:extLst>
        </c:ser>
        <c:dLbls>
          <c:dLblPos val="outEnd"/>
          <c:showLegendKey val="1"/>
          <c:showVal val="1"/>
          <c:showCatName val="1"/>
          <c:showSerName val="1"/>
          <c:showPercent val="1"/>
          <c:showBubbleSize val="1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s-MX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MX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Homicidios</c:v>
          </c:tx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Ene</c:v>
              </c:pt>
              <c:pt idx="1">
                <c:v>Feb</c:v>
              </c:pt>
              <c:pt idx="2">
                <c:v>Mar</c:v>
              </c:pt>
              <c:pt idx="3">
                <c:v>Abr</c:v>
              </c:pt>
              <c:pt idx="4">
                <c:v>May</c:v>
              </c:pt>
            </c:strLit>
          </c:cat>
          <c:val>
            <c:numLit>
              <c:formatCode>General</c:formatCode>
              <c:ptCount val="5"/>
              <c:pt idx="0">
                <c:v>761</c:v>
              </c:pt>
              <c:pt idx="1">
                <c:v>684</c:v>
              </c:pt>
              <c:pt idx="2">
                <c:v>667</c:v>
              </c:pt>
              <c:pt idx="3">
                <c:v>677</c:v>
              </c:pt>
              <c:pt idx="4">
                <c:v>696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E60D-4F85-BA06-3438010EA2EA}"/>
            </c:ext>
          </c:extLst>
        </c:ser>
        <c:dLbls>
          <c:showLegendKey val="1"/>
          <c:showVal val="1"/>
          <c:showCatName val="1"/>
          <c:showSerName val="1"/>
          <c:showPercent val="1"/>
          <c:showBubbleSize val="1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s-MX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D60A5087-877D-4064-AB42-C890843947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355B"/>
          </a:solidFill>
          <a:ln w="0">
            <a:solidFill>
              <a:srgbClr val="12355B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4FA8DB3-CF70-4776-9A80-CFCBAB78F56C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723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SafeAnalytics EC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BBE9A69-BFE3-4F77-A1CD-9EC621811077}"/>
              </a:ext>
            </a:extLst>
          </p:cNvPr>
          <p:cNvSpPr>
            <a:spLocks noGrp="1"/>
          </p:cNvSpPr>
          <p:nvPr/>
        </p:nvSpPr>
        <p:spPr>
          <a:xfrm>
            <a:off x="723900" y="1857375"/>
            <a:ext cx="752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0">
                <a:solidFill>
                  <a:srgbClr val="DCEEEF"/>
                </a:solidFill>
              </a:defRPr>
            </a:pPr>
            <a:r>
              <a:rPr sz="2100" b="0">
                <a:solidFill>
                  <a:srgbClr val="DCEEEF"/>
                </a:solidFill>
              </a:rPr>
              <a:t>Analítica de negocios para monitoreo estratégico de homicidios intencionales en Ecuador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5A6073A-48B5-4429-BE8E-1938C1182351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819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B7DAD8"/>
                </a:solidFill>
              </a:defRPr>
            </a:pPr>
            <a:r>
              <a:rPr sz="1650" b="0">
                <a:solidFill>
                  <a:srgbClr val="B7DAD8"/>
                </a:solidFill>
              </a:rPr>
              <a:t>Dashboard ejecutivo | Modelo estrella | Riesgo territorial | Simulador de escenarios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834E870-E00D-4DB9-A8E7-7FFBEE90EC0A}"/>
              </a:ext>
            </a:extLst>
          </p:cNvPr>
          <p:cNvSpPr>
            <a:spLocks noGrp="1"/>
          </p:cNvSpPr>
          <p:nvPr/>
        </p:nvSpPr>
        <p:spPr>
          <a:xfrm>
            <a:off x="8477250" y="1028700"/>
            <a:ext cx="2857500" cy="3429000"/>
          </a:xfrm>
          <a:prstGeom prst="roundRect">
            <a:avLst>
              <a:gd name="adj" fmla="val 2667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84DF65A-9EE0-4043-8267-6E46B6367ED8}"/>
              </a:ext>
            </a:extLst>
          </p:cNvPr>
          <p:cNvSpPr>
            <a:spLocks noGrp="1"/>
          </p:cNvSpPr>
          <p:nvPr/>
        </p:nvSpPr>
        <p:spPr>
          <a:xfrm>
            <a:off x="8858250" y="1476375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3.485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AE7EDC5-5F62-463E-A368-65B283FD3B0A}"/>
              </a:ext>
            </a:extLst>
          </p:cNvPr>
          <p:cNvSpPr>
            <a:spLocks noGrp="1"/>
          </p:cNvSpPr>
          <p:nvPr/>
        </p:nvSpPr>
        <p:spPr>
          <a:xfrm>
            <a:off x="8877300" y="2143125"/>
            <a:ext cx="2095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E6FFFB"/>
                </a:solidFill>
              </a:defRPr>
            </a:pPr>
            <a:r>
              <a:rPr sz="1800" b="0">
                <a:solidFill>
                  <a:srgbClr val="E6FFFB"/>
                </a:solidFill>
              </a:rPr>
              <a:t>registros reales</a:t>
            </a:r>
          </a:p>
          <a:p>
            <a:pPr>
              <a:defRPr sz="1800" b="0">
                <a:solidFill>
                  <a:srgbClr val="E6FFFB"/>
                </a:solidFill>
              </a:defRPr>
            </a:pPr>
            <a:r>
              <a:rPr sz="1800" b="0">
                <a:solidFill>
                  <a:srgbClr val="E6FFFB"/>
                </a:solidFill>
              </a:rPr>
              <a:t>enero-mayo 2026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F296C2C-E4E1-437A-80D8-E9132B3339C5}"/>
              </a:ext>
            </a:extLst>
          </p:cNvPr>
          <p:cNvSpPr>
            <a:spLocks noGrp="1"/>
          </p:cNvSpPr>
          <p:nvPr/>
        </p:nvSpPr>
        <p:spPr>
          <a:xfrm>
            <a:off x="8877300" y="3257550"/>
            <a:ext cx="2095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E6FFFB"/>
                </a:solidFill>
              </a:defRPr>
            </a:pPr>
            <a:r>
              <a:rPr sz="1800" b="0">
                <a:solidFill>
                  <a:srgbClr val="E6FFFB"/>
                </a:solidFill>
              </a:rPr>
              <a:t>23 provincias</a:t>
            </a:r>
          </a:p>
          <a:p>
            <a:pPr>
              <a:defRPr sz="1800" b="0">
                <a:solidFill>
                  <a:srgbClr val="E6FFFB"/>
                </a:solidFill>
              </a:defRPr>
            </a:pPr>
            <a:r>
              <a:rPr sz="1800" b="0">
                <a:solidFill>
                  <a:srgbClr val="E6FFFB"/>
                </a:solidFill>
              </a:rPr>
              <a:t>138 cantones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81F544B-A1B3-472A-A54D-C83DD7C88883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17080"/>
                </a:solidFill>
              </a:defRPr>
            </a:pPr>
            <a:r>
              <a:rPr sz="975">
                <a:solidFill>
                  <a:srgbClr val="617080"/>
                </a:solidFill>
              </a:rPr>
              <a:t>SafeAnalytics EC | Proyecto Integrador 7A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BD3A746-BCC8-4C0F-A86D-2C7868E2923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17080"/>
                </a:solidFill>
              </a:defRPr>
            </a:pPr>
            <a:r>
              <a:rPr sz="975">
                <a:solidFill>
                  <a:srgbClr val="61708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34577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E335DA78-18FE-4803-B5D0-3FACB752A5D0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2355B"/>
                </a:solidFill>
              </a:defRPr>
            </a:pPr>
            <a:r>
              <a:rPr sz="2850" b="1">
                <a:solidFill>
                  <a:srgbClr val="12355B"/>
                </a:solidFill>
              </a:rPr>
              <a:t>El problema no es falta de datos, es falta de lectura estratégica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FCB6324-758C-4EBA-AD73-B813A110E787}"/>
              </a:ext>
            </a:extLst>
          </p:cNvPr>
          <p:cNvSpPr>
            <a:spLocks noGrp="1"/>
          </p:cNvSpPr>
          <p:nvPr/>
        </p:nvSpPr>
        <p:spPr>
          <a:xfrm>
            <a:off x="819150" y="1762125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• Los registros operativos suelen permanecer en Excel o reportes tabulares.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201570F-809E-47BD-BDAD-45824C7E1D29}"/>
              </a:ext>
            </a:extLst>
          </p:cNvPr>
          <p:cNvSpPr>
            <a:spLocks noGrp="1"/>
          </p:cNvSpPr>
          <p:nvPr/>
        </p:nvSpPr>
        <p:spPr>
          <a:xfrm>
            <a:off x="819150" y="2371725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• La toma de decisiones se retrasa cuando no se detectan patrones geográficos y temporales.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0C0518D-AE71-452F-A1AF-152C9765DF14}"/>
              </a:ext>
            </a:extLst>
          </p:cNvPr>
          <p:cNvSpPr>
            <a:spLocks noGrp="1"/>
          </p:cNvSpPr>
          <p:nvPr/>
        </p:nvSpPr>
        <p:spPr>
          <a:xfrm>
            <a:off x="819150" y="2981325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• La planificación de recursos necesita indicadores comparables y alertas tempranas.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902B7E8-91B1-4EE7-BE3C-C3F6773A5C48}"/>
              </a:ext>
            </a:extLst>
          </p:cNvPr>
          <p:cNvSpPr>
            <a:spLocks noGrp="1"/>
          </p:cNvSpPr>
          <p:nvPr/>
        </p:nvSpPr>
        <p:spPr>
          <a:xfrm>
            <a:off x="819150" y="4524375"/>
            <a:ext cx="9906000" cy="876300"/>
          </a:xfrm>
          <a:prstGeom prst="roundRect">
            <a:avLst>
              <a:gd name="adj" fmla="val 8696"/>
            </a:avLst>
          </a:prstGeom>
          <a:solidFill>
            <a:srgbClr val="FFF7E6"/>
          </a:solidFill>
          <a:ln w="9525">
            <a:solidFill>
              <a:srgbClr val="D9E2E8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F48C3A4-881F-4A0D-A46D-6AA820DD43E1}"/>
              </a:ext>
            </a:extLst>
          </p:cNvPr>
          <p:cNvSpPr>
            <a:spLocks noGrp="1"/>
          </p:cNvSpPr>
          <p:nvPr/>
        </p:nvSpPr>
        <p:spPr>
          <a:xfrm>
            <a:off x="1066800" y="47434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D99A21"/>
                </a:solidFill>
              </a:defRPr>
            </a:pPr>
            <a:r>
              <a:rPr sz="1500" b="1">
                <a:solidFill>
                  <a:srgbClr val="D99A21"/>
                </a:solidFill>
              </a:rPr>
              <a:t>Pregunta ejecutiva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5A194EC-8BBD-4076-A9B9-D43287CEDEE4}"/>
              </a:ext>
            </a:extLst>
          </p:cNvPr>
          <p:cNvSpPr>
            <a:spLocks noGrp="1"/>
          </p:cNvSpPr>
          <p:nvPr/>
        </p:nvSpPr>
        <p:spPr>
          <a:xfrm>
            <a:off x="3143250" y="471487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¿Dónde, cuándo y bajo qué condiciones se concentra la incidencia para priorizar acciones?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BDF7404-3185-43BC-91FF-DBD66AC083AB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17080"/>
                </a:solidFill>
              </a:defRPr>
            </a:pPr>
            <a:r>
              <a:rPr sz="975">
                <a:solidFill>
                  <a:srgbClr val="617080"/>
                </a:solidFill>
              </a:rPr>
              <a:t>SafeAnalytics EC | Proyecto Integrador 7A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358793F-FBF1-4466-890D-D0305C701102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17080"/>
                </a:solidFill>
              </a:defRPr>
            </a:pPr>
            <a:r>
              <a:rPr sz="975">
                <a:solidFill>
                  <a:srgbClr val="61708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046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5DA8ED46-52C4-4604-8990-BE340556EC13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2355B"/>
                </a:solidFill>
              </a:defRPr>
            </a:pPr>
            <a:r>
              <a:rPr sz="2850" b="1">
                <a:solidFill>
                  <a:srgbClr val="12355B"/>
                </a:solidFill>
              </a:rPr>
              <a:t>La solución convierte microdatos reales en decisiones priorizadas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AD031024-ECD1-4B15-852B-BABF17BF4977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22860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9E2E8"/>
            </a:solidFill>
            <a:prstDash val="solid"/>
          </a:ln>
        </p:spPr>
        <p:txBody>
          <a:bodyPr/>
          <a:p/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EEFC921-29F8-41EA-9444-5291F218F9FC}"/>
              </a:ext>
            </a:extLst>
          </p:cNvPr>
          <p:cNvSpPr>
            <a:spLocks noGrp="1"/>
          </p:cNvSpPr>
          <p:nvPr/>
        </p:nvSpPr>
        <p:spPr>
          <a:xfrm>
            <a:off x="952500" y="19812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617080"/>
                </a:solidFill>
              </a:defRPr>
            </a:pPr>
            <a:r>
              <a:rPr sz="1200" b="1">
                <a:solidFill>
                  <a:srgbClr val="617080"/>
                </a:solidFill>
              </a:rPr>
              <a:t>TOTAL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7A03903-F2EE-4A2B-8AD7-6A2011B0AD2A}"/>
              </a:ext>
            </a:extLst>
          </p:cNvPr>
          <p:cNvSpPr>
            <a:spLocks noGrp="1"/>
          </p:cNvSpPr>
          <p:nvPr/>
        </p:nvSpPr>
        <p:spPr>
          <a:xfrm>
            <a:off x="952500" y="2286000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3.485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1EAE644F-0BEE-4057-9F69-169910E33643}"/>
              </a:ext>
            </a:extLst>
          </p:cNvPr>
          <p:cNvSpPr>
            <a:spLocks noGrp="1"/>
          </p:cNvSpPr>
          <p:nvPr/>
        </p:nvSpPr>
        <p:spPr>
          <a:xfrm>
            <a:off x="3333750" y="1809750"/>
            <a:ext cx="22860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9E2E8"/>
            </a:solidFill>
            <a:prstDash val="solid"/>
          </a:ln>
        </p:spPr>
        <p:txBody>
          <a:bodyPr/>
          <a:p/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99F7A67-7914-4B92-9B5B-7B23EE256562}"/>
              </a:ext>
            </a:extLst>
          </p:cNvPr>
          <p:cNvSpPr>
            <a:spLocks noGrp="1"/>
          </p:cNvSpPr>
          <p:nvPr/>
        </p:nvSpPr>
        <p:spPr>
          <a:xfrm>
            <a:off x="3524250" y="19812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617080"/>
                </a:solidFill>
              </a:defRPr>
            </a:pPr>
            <a:r>
              <a:rPr sz="1200" b="1">
                <a:solidFill>
                  <a:srgbClr val="617080"/>
                </a:solidFill>
              </a:rPr>
              <a:t>PROVINCIAS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339377A-CAB7-4CE5-A119-9CA76047163A}"/>
              </a:ext>
            </a:extLst>
          </p:cNvPr>
          <p:cNvSpPr>
            <a:spLocks noGrp="1"/>
          </p:cNvSpPr>
          <p:nvPr/>
        </p:nvSpPr>
        <p:spPr>
          <a:xfrm>
            <a:off x="3524250" y="2286000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2355B"/>
                </a:solidFill>
              </a:defRPr>
            </a:pPr>
            <a:r>
              <a:rPr sz="2550" b="1">
                <a:solidFill>
                  <a:srgbClr val="12355B"/>
                </a:solidFill>
              </a:rPr>
              <a:t>23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D8A9DA1-029B-4905-9B70-7A3EB24CB33D}"/>
              </a:ext>
            </a:extLst>
          </p:cNvPr>
          <p:cNvSpPr>
            <a:spLocks noGrp="1"/>
          </p:cNvSpPr>
          <p:nvPr/>
        </p:nvSpPr>
        <p:spPr>
          <a:xfrm>
            <a:off x="5905500" y="1809750"/>
            <a:ext cx="22860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9E2E8"/>
            </a:solidFill>
            <a:prstDash val="solid"/>
          </a:ln>
        </p:spPr>
        <p:txBody>
          <a:bodyPr/>
          <a:p/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0992934-9D71-488E-AE87-84B851BE18B7}"/>
              </a:ext>
            </a:extLst>
          </p:cNvPr>
          <p:cNvSpPr>
            <a:spLocks noGrp="1"/>
          </p:cNvSpPr>
          <p:nvPr/>
        </p:nvSpPr>
        <p:spPr>
          <a:xfrm>
            <a:off x="6096000" y="19812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617080"/>
                </a:solidFill>
              </a:defRPr>
            </a:pPr>
            <a:r>
              <a:rPr sz="1200" b="1">
                <a:solidFill>
                  <a:srgbClr val="617080"/>
                </a:solidFill>
              </a:rPr>
              <a:t>CANTONES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65A86CD-BBA7-4CE7-BB5C-1DFBECB54BD4}"/>
              </a:ext>
            </a:extLst>
          </p:cNvPr>
          <p:cNvSpPr>
            <a:spLocks noGrp="1"/>
          </p:cNvSpPr>
          <p:nvPr/>
        </p:nvSpPr>
        <p:spPr>
          <a:xfrm>
            <a:off x="6096000" y="2286000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D99A21"/>
                </a:solidFill>
              </a:defRPr>
            </a:pPr>
            <a:r>
              <a:rPr sz="2550" b="1">
                <a:solidFill>
                  <a:srgbClr val="D99A21"/>
                </a:solidFill>
              </a:rPr>
              <a:t>138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E979435B-2E00-4800-AF71-13BFC616C993}"/>
              </a:ext>
            </a:extLst>
          </p:cNvPr>
          <p:cNvSpPr>
            <a:spLocks noGrp="1"/>
          </p:cNvSpPr>
          <p:nvPr/>
        </p:nvSpPr>
        <p:spPr>
          <a:xfrm>
            <a:off x="8477250" y="1809750"/>
            <a:ext cx="22860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9E2E8"/>
            </a:solidFill>
            <a:prstDash val="solid"/>
          </a:ln>
        </p:spPr>
        <p:txBody>
          <a:bodyPr/>
          <a:p/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1D239F2-7665-4F3A-A5EF-FCB7A978AF7C}"/>
              </a:ext>
            </a:extLst>
          </p:cNvPr>
          <p:cNvSpPr>
            <a:spLocks noGrp="1"/>
          </p:cNvSpPr>
          <p:nvPr/>
        </p:nvSpPr>
        <p:spPr>
          <a:xfrm>
            <a:off x="8667750" y="19812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617080"/>
                </a:solidFill>
              </a:defRPr>
            </a:pPr>
            <a:r>
              <a:rPr sz="1200" b="1">
                <a:solidFill>
                  <a:srgbClr val="617080"/>
                </a:solidFill>
              </a:rPr>
              <a:t>ARMA FUEGO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7ADF397-AF9B-4283-9017-2F56D025BF51}"/>
              </a:ext>
            </a:extLst>
          </p:cNvPr>
          <p:cNvSpPr>
            <a:spLocks noGrp="1"/>
          </p:cNvSpPr>
          <p:nvPr/>
        </p:nvSpPr>
        <p:spPr>
          <a:xfrm>
            <a:off x="8667750" y="2286000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B42318"/>
                </a:solidFill>
              </a:defRPr>
            </a:pPr>
            <a:r>
              <a:rPr sz="2550" b="1">
                <a:solidFill>
                  <a:srgbClr val="B42318"/>
                </a:solidFill>
              </a:rPr>
              <a:t>87,8%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B233126-428C-49C9-A0AA-6A2175F4203D}"/>
              </a:ext>
            </a:extLst>
          </p:cNvPr>
          <p:cNvSpPr>
            <a:spLocks noGrp="1"/>
          </p:cNvSpPr>
          <p:nvPr/>
        </p:nvSpPr>
        <p:spPr>
          <a:xfrm>
            <a:off x="952500" y="371475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• Modelo estrella para analizar tiempo, territorio, delito y víctima.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7A759A5-84D5-4A68-AF32-1A48CE9A84AB}"/>
              </a:ext>
            </a:extLst>
          </p:cNvPr>
          <p:cNvSpPr>
            <a:spLocks noGrp="1"/>
          </p:cNvSpPr>
          <p:nvPr/>
        </p:nvSpPr>
        <p:spPr>
          <a:xfrm>
            <a:off x="952500" y="42672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• Fuentes: Excel oficial del MDI + API pública (Banco Mundial) para la tasa por 100.000 hab.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431E810-BDE6-4624-9437-84C0BB286C83}"/>
              </a:ext>
            </a:extLst>
          </p:cNvPr>
          <p:cNvSpPr>
            <a:spLocks noGrp="1"/>
          </p:cNvSpPr>
          <p:nvPr/>
        </p:nvSpPr>
        <p:spPr>
          <a:xfrm>
            <a:off x="952500" y="481965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17202A"/>
                </a:solidFill>
              </a:defRPr>
            </a:pPr>
            <a:r>
              <a:rPr sz="1800" b="0">
                <a:solidFill>
                  <a:srgbClr val="17202A"/>
                </a:solidFill>
              </a:rPr>
              <a:t>• Índice de riesgo y simulador para pasar del dato a la acción.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0C8151A-5374-4D45-A67B-93F425031591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17080"/>
                </a:solidFill>
              </a:defRPr>
            </a:pPr>
            <a:r>
              <a:rPr sz="975">
                <a:solidFill>
                  <a:srgbClr val="617080"/>
                </a:solidFill>
              </a:rPr>
              <a:t>SafeAnalytics EC | Proyecto Integrador 7A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21169C8-300C-4DBA-9F36-D3E39FD9D26C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17080"/>
                </a:solidFill>
              </a:defRPr>
            </a:pPr>
            <a:r>
              <a:rPr sz="975">
                <a:solidFill>
                  <a:srgbClr val="61708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76352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D5EE9F99-ACA2-4A2B-93DB-B30F58247095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2355B"/>
                </a:solidFill>
              </a:defRPr>
            </a:pPr>
            <a:r>
              <a:rPr sz="2850" b="1">
                <a:solidFill>
                  <a:srgbClr val="12355B"/>
                </a:solidFill>
              </a:rPr>
              <a:t>La arquitectura mantiene trazabilidad desde el Excel hasta el dashboard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41CE6A3E-0970-49F2-A45B-BFB620BFF039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20002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E2E8"/>
            </a:solidFill>
            <a:prstDash val="solid"/>
          </a:ln>
        </p:spPr>
        <p:txBody>
          <a:bodyPr/>
          <a:p/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7F1EDBF-0966-481F-9E2A-754ADE60D19C}"/>
              </a:ext>
            </a:extLst>
          </p:cNvPr>
          <p:cNvSpPr>
            <a:spLocks noGrp="1"/>
          </p:cNvSpPr>
          <p:nvPr/>
        </p:nvSpPr>
        <p:spPr>
          <a:xfrm>
            <a:off x="1066800" y="22383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2355B"/>
                </a:solidFill>
              </a:defRPr>
            </a:pPr>
            <a:r>
              <a:rPr sz="1800" b="1">
                <a:solidFill>
                  <a:srgbClr val="12355B"/>
                </a:solidFill>
              </a:rPr>
              <a:t>Fuentes de datos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E4CDC30-E400-4B02-A434-0A7DB9598C4F}"/>
              </a:ext>
            </a:extLst>
          </p:cNvPr>
          <p:cNvSpPr>
            <a:spLocks noGrp="1"/>
          </p:cNvSpPr>
          <p:nvPr/>
        </p:nvSpPr>
        <p:spPr>
          <a:xfrm>
            <a:off x="1066800" y="2762250"/>
            <a:ext cx="1619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Excel MDI + API Banco Mundial</a:t>
            </a:r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E6A73C77-98FC-4CAD-A48C-3DC65171D31C}"/>
              </a:ext>
            </a:extLst>
          </p:cNvPr>
          <p:cNvSpPr>
            <a:spLocks noGrp="1"/>
          </p:cNvSpPr>
          <p:nvPr/>
        </p:nvSpPr>
        <p:spPr>
          <a:xfrm>
            <a:off x="3009900" y="2571750"/>
            <a:ext cx="666750" cy="495300"/>
          </a:xfrm>
          <a:prstGeom prst="rightArrow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1BAF451-8C41-4E18-96A1-49B9D60370A3}"/>
              </a:ext>
            </a:extLst>
          </p:cNvPr>
          <p:cNvSpPr>
            <a:spLocks noGrp="1"/>
          </p:cNvSpPr>
          <p:nvPr/>
        </p:nvSpPr>
        <p:spPr>
          <a:xfrm>
            <a:off x="3524250" y="2000250"/>
            <a:ext cx="20002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E2E8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E15A7E9-D446-44FB-B1BE-D4439EE05AF4}"/>
              </a:ext>
            </a:extLst>
          </p:cNvPr>
          <p:cNvSpPr>
            <a:spLocks noGrp="1"/>
          </p:cNvSpPr>
          <p:nvPr/>
        </p:nvSpPr>
        <p:spPr>
          <a:xfrm>
            <a:off x="3733800" y="22383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ETL Python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8E001C3-A027-4CCF-A147-C530EAFD5CF5}"/>
              </a:ext>
            </a:extLst>
          </p:cNvPr>
          <p:cNvSpPr>
            <a:spLocks noGrp="1"/>
          </p:cNvSpPr>
          <p:nvPr/>
        </p:nvSpPr>
        <p:spPr>
          <a:xfrm>
            <a:off x="3733800" y="2762250"/>
            <a:ext cx="1619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Limpieza</a:t>
            </a:r>
          </a:p>
          <a:p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tipado</a:t>
            </a:r>
          </a:p>
          <a:p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calidad</a:t>
            </a:r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D3156E23-687F-4D1A-9E5D-53AF0AFCCD43}"/>
              </a:ext>
            </a:extLst>
          </p:cNvPr>
          <p:cNvSpPr>
            <a:spLocks noGrp="1"/>
          </p:cNvSpPr>
          <p:nvPr/>
        </p:nvSpPr>
        <p:spPr>
          <a:xfrm>
            <a:off x="5676900" y="2571750"/>
            <a:ext cx="666750" cy="495300"/>
          </a:xfrm>
          <a:prstGeom prst="rightArrow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EA9CA72D-6414-457F-A65F-D2DF73641346}"/>
              </a:ext>
            </a:extLst>
          </p:cNvPr>
          <p:cNvSpPr>
            <a:spLocks noGrp="1"/>
          </p:cNvSpPr>
          <p:nvPr/>
        </p:nvSpPr>
        <p:spPr>
          <a:xfrm>
            <a:off x="6191250" y="2000250"/>
            <a:ext cx="20002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E2E8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25D448A-EE28-4F22-85B2-83827121391E}"/>
              </a:ext>
            </a:extLst>
          </p:cNvPr>
          <p:cNvSpPr>
            <a:spLocks noGrp="1"/>
          </p:cNvSpPr>
          <p:nvPr/>
        </p:nvSpPr>
        <p:spPr>
          <a:xfrm>
            <a:off x="6400800" y="22383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D99A21"/>
                </a:solidFill>
              </a:defRPr>
            </a:pPr>
            <a:r>
              <a:rPr sz="1800" b="1">
                <a:solidFill>
                  <a:srgbClr val="D99A21"/>
                </a:solidFill>
              </a:rPr>
              <a:t>Modelo estrella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5633E66-3288-4BD9-AF22-54C519DE8BED}"/>
              </a:ext>
            </a:extLst>
          </p:cNvPr>
          <p:cNvSpPr>
            <a:spLocks noGrp="1"/>
          </p:cNvSpPr>
          <p:nvPr/>
        </p:nvSpPr>
        <p:spPr>
          <a:xfrm>
            <a:off x="6400800" y="2762250"/>
            <a:ext cx="1619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fact_homicidios</a:t>
            </a:r>
          </a:p>
          <a:p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dimensiones</a:t>
            </a: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1E92F228-FC3D-479C-99A5-1DBA09D7FC4C}"/>
              </a:ext>
            </a:extLst>
          </p:cNvPr>
          <p:cNvSpPr>
            <a:spLocks noGrp="1"/>
          </p:cNvSpPr>
          <p:nvPr/>
        </p:nvSpPr>
        <p:spPr>
          <a:xfrm>
            <a:off x="8343900" y="2571750"/>
            <a:ext cx="666750" cy="495300"/>
          </a:xfrm>
          <a:prstGeom prst="rightArrow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49CECB95-0A7B-4960-9B92-7337E85F460F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20002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E2E8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9B410E6-0B93-44F4-BC10-F73B2B3B45F0}"/>
              </a:ext>
            </a:extLst>
          </p:cNvPr>
          <p:cNvSpPr>
            <a:spLocks noGrp="1"/>
          </p:cNvSpPr>
          <p:nvPr/>
        </p:nvSpPr>
        <p:spPr>
          <a:xfrm>
            <a:off x="9067800" y="22383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B42318"/>
                </a:solidFill>
              </a:defRPr>
            </a:pPr>
            <a:r>
              <a:rPr sz="1800" b="1">
                <a:solidFill>
                  <a:srgbClr val="B42318"/>
                </a:solidFill>
              </a:rPr>
              <a:t>Consumo ejecutivo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03FCEBE-8CD2-4CE3-882C-CBFA28423140}"/>
              </a:ext>
            </a:extLst>
          </p:cNvPr>
          <p:cNvSpPr>
            <a:spLocks noGrp="1"/>
          </p:cNvSpPr>
          <p:nvPr/>
        </p:nvSpPr>
        <p:spPr>
          <a:xfrm>
            <a:off x="9067800" y="2762250"/>
            <a:ext cx="1619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Power BI</a:t>
            </a:r>
          </a:p>
          <a:p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Streamlit</a:t>
            </a:r>
          </a:p>
          <a:p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informe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A486CB5-04CB-433C-A9FD-BFFECFEEAEBB}"/>
              </a:ext>
            </a:extLst>
          </p:cNvPr>
          <p:cNvSpPr>
            <a:spLocks noGrp="1"/>
          </p:cNvSpPr>
          <p:nvPr/>
        </p:nvSpPr>
        <p:spPr>
          <a:xfrm>
            <a:off x="1143000" y="4476750"/>
            <a:ext cx="952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7202A"/>
                </a:solidFill>
              </a:defRPr>
            </a:pPr>
            <a:r>
              <a:rPr sz="1875" b="1">
                <a:solidFill>
                  <a:srgbClr val="17202A"/>
                </a:solidFill>
              </a:rPr>
              <a:t>Resultado: datos reproducibles, auditables y listos para análisis multidimensional.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9B85241-C0AC-4134-8ABD-B95B3F2F0538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17080"/>
                </a:solidFill>
              </a:defRPr>
            </a:pPr>
            <a:r>
              <a:rPr sz="975">
                <a:solidFill>
                  <a:srgbClr val="617080"/>
                </a:solidFill>
              </a:rPr>
              <a:t>SafeAnalytics EC | Proyecto Integrador 7A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244FC8A-9D60-4456-A318-E22A0BC7E186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17080"/>
                </a:solidFill>
              </a:defRPr>
            </a:pPr>
            <a:r>
              <a:rPr sz="975">
                <a:solidFill>
                  <a:srgbClr val="61708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204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49E0C1A-A724-4862-8343-103149642319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2355B"/>
                </a:solidFill>
              </a:defRPr>
            </a:pPr>
            <a:r>
              <a:rPr sz="2850" b="1">
                <a:solidFill>
                  <a:srgbClr val="12355B"/>
                </a:solidFill>
              </a:rPr>
              <a:t>La concentración territorial define la prioridad ejecutiva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="838200" y="1714500"/>
          <a:ext cx="4953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1D9974A0-8D06-4CFE-B2E3-E269A00CD82A}"/>
              </a:ext>
            </a:extLst>
          </p:cNvPr>
          <p:cNvSpPr>
            <a:spLocks noGrp="1"/>
          </p:cNvSpPr>
          <p:nvPr/>
        </p:nvSpPr>
        <p:spPr>
          <a:xfrm>
            <a:off x="6572250" y="1809750"/>
            <a:ext cx="390525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9E2E8"/>
            </a:solidFill>
            <a:prstDash val="solid"/>
          </a:ln>
        </p:spPr>
        <p:txBody>
          <a:bodyPr/>
          <a:p/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F4A83A-2079-41B4-8EE1-F3406B4F7F93}"/>
              </a:ext>
            </a:extLst>
          </p:cNvPr>
          <p:cNvSpPr>
            <a:spLocks noGrp="1"/>
          </p:cNvSpPr>
          <p:nvPr/>
        </p:nvSpPr>
        <p:spPr>
          <a:xfrm>
            <a:off x="6858000" y="21145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2355B"/>
                </a:solidFill>
              </a:defRPr>
            </a:pPr>
            <a:r>
              <a:rPr sz="1875" b="1">
                <a:solidFill>
                  <a:srgbClr val="12355B"/>
                </a:solidFill>
              </a:rPr>
              <a:t>Lectura clave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03ACD52-41FC-4D9A-ABE0-35988F9407C3}"/>
              </a:ext>
            </a:extLst>
          </p:cNvPr>
          <p:cNvSpPr>
            <a:spLocks noGrp="1"/>
          </p:cNvSpPr>
          <p:nvPr/>
        </p:nvSpPr>
        <p:spPr>
          <a:xfrm>
            <a:off x="6858000" y="27146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• Guayas: 1.521 casos; CV provincial de 218% (extrema).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A082826-EF80-4348-80A3-C2478DC527CA}"/>
              </a:ext>
            </a:extLst>
          </p:cNvPr>
          <p:cNvSpPr>
            <a:spLocks noGrp="1"/>
          </p:cNvSpPr>
          <p:nvPr/>
        </p:nvSpPr>
        <p:spPr>
          <a:xfrm>
            <a:off x="6858000" y="326707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• Guayaquil lidera el ranking cantonal con 944 casos.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FBDFB1E-E296-4B26-B592-1E24B826A862}"/>
              </a:ext>
            </a:extLst>
          </p:cNvPr>
          <p:cNvSpPr>
            <a:spLocks noGrp="1"/>
          </p:cNvSpPr>
          <p:nvPr/>
        </p:nvSpPr>
        <p:spPr>
          <a:xfrm>
            <a:off x="6858000" y="38195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• Volumen y cantones correlacionan r=0,91; no es causalidad.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DD97A4A-67AB-4917-A0BF-27D5F097692F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17080"/>
                </a:solidFill>
              </a:defRPr>
            </a:pPr>
            <a:r>
              <a:rPr sz="975">
                <a:solidFill>
                  <a:srgbClr val="617080"/>
                </a:solidFill>
              </a:rPr>
              <a:t>SafeAnalytics EC | Proyecto Integrador 7A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68531CA-6014-4E0D-9B78-3C7E9EB23E72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17080"/>
                </a:solidFill>
              </a:defRPr>
            </a:pPr>
            <a:r>
              <a:rPr sz="975">
                <a:solidFill>
                  <a:srgbClr val="61708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30248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1B223-1753-4B1D-BB8E-CA14AD6B1D1C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2355B"/>
                </a:solidFill>
              </a:defRPr>
            </a:pPr>
            <a:r>
              <a:rPr sz="2850" b="1">
                <a:solidFill>
                  <a:srgbClr val="12355B"/>
                </a:solidFill>
              </a:rPr>
              <a:t>El patrón operativo combina territorio, tiempo y arma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742950" y="1695450"/>
          <a:ext cx="4953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8FA574CA-B055-4A8D-83EA-F694BD6F2BED}"/>
              </a:ext>
            </a:extLst>
          </p:cNvPr>
          <p:cNvSpPr>
            <a:spLocks noGrp="1"/>
          </p:cNvSpPr>
          <p:nvPr/>
        </p:nvSpPr>
        <p:spPr>
          <a:xfrm>
            <a:off x="6286500" y="1952625"/>
            <a:ext cx="22860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9E2E8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4568910-A0B0-4712-9FA2-892D67242C6F}"/>
              </a:ext>
            </a:extLst>
          </p:cNvPr>
          <p:cNvSpPr>
            <a:spLocks noGrp="1"/>
          </p:cNvSpPr>
          <p:nvPr/>
        </p:nvSpPr>
        <p:spPr>
          <a:xfrm>
            <a:off x="6477000" y="2124075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617080"/>
                </a:solidFill>
              </a:defRPr>
            </a:pPr>
            <a:r>
              <a:rPr sz="1200" b="1">
                <a:solidFill>
                  <a:srgbClr val="617080"/>
                </a:solidFill>
              </a:rPr>
              <a:t>HORA CRÍTICA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73955FA-3CEC-406D-9E24-F76289FA397C}"/>
              </a:ext>
            </a:extLst>
          </p:cNvPr>
          <p:cNvSpPr>
            <a:spLocks noGrp="1"/>
          </p:cNvSpPr>
          <p:nvPr/>
        </p:nvSpPr>
        <p:spPr>
          <a:xfrm>
            <a:off x="6477000" y="2428875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2355B"/>
                </a:solidFill>
              </a:defRPr>
            </a:pPr>
            <a:r>
              <a:rPr sz="2550" b="1">
                <a:solidFill>
                  <a:srgbClr val="12355B"/>
                </a:solidFill>
              </a:rPr>
              <a:t>20:00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2DC4B11-D56D-40C1-B090-4ED283DC63DB}"/>
              </a:ext>
            </a:extLst>
          </p:cNvPr>
          <p:cNvSpPr>
            <a:spLocks noGrp="1"/>
          </p:cNvSpPr>
          <p:nvPr/>
        </p:nvSpPr>
        <p:spPr>
          <a:xfrm>
            <a:off x="8858250" y="1952625"/>
            <a:ext cx="22860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9E2E8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5B64E8A-6DF8-40AA-91C0-DEF8BCE8C06D}"/>
              </a:ext>
            </a:extLst>
          </p:cNvPr>
          <p:cNvSpPr>
            <a:spLocks noGrp="1"/>
          </p:cNvSpPr>
          <p:nvPr/>
        </p:nvSpPr>
        <p:spPr>
          <a:xfrm>
            <a:off x="9048750" y="2124075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617080"/>
                </a:solidFill>
              </a:defRPr>
            </a:pPr>
            <a:r>
              <a:rPr sz="1200" b="1">
                <a:solidFill>
                  <a:srgbClr val="617080"/>
                </a:solidFill>
              </a:rPr>
              <a:t>VÍCTIMAS HOMBRES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A001895-39A4-42CF-B11A-C8F8377487C3}"/>
              </a:ext>
            </a:extLst>
          </p:cNvPr>
          <p:cNvSpPr>
            <a:spLocks noGrp="1"/>
          </p:cNvSpPr>
          <p:nvPr/>
        </p:nvSpPr>
        <p:spPr>
          <a:xfrm>
            <a:off x="9048750" y="2428875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90,9%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8D46B17-9644-4E9B-A260-69D71D283202}"/>
              </a:ext>
            </a:extLst>
          </p:cNvPr>
          <p:cNvSpPr>
            <a:spLocks noGrp="1"/>
          </p:cNvSpPr>
          <p:nvPr/>
        </p:nvSpPr>
        <p:spPr>
          <a:xfrm>
            <a:off x="6286500" y="3571875"/>
            <a:ext cx="22860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9E2E8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23B3B0E-AC82-47B4-84B7-016BDA91DE4F}"/>
              </a:ext>
            </a:extLst>
          </p:cNvPr>
          <p:cNvSpPr>
            <a:spLocks noGrp="1"/>
          </p:cNvSpPr>
          <p:nvPr/>
        </p:nvSpPr>
        <p:spPr>
          <a:xfrm>
            <a:off x="6477000" y="3743325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617080"/>
                </a:solidFill>
              </a:defRPr>
            </a:pPr>
            <a:r>
              <a:rPr sz="1200" b="1">
                <a:solidFill>
                  <a:srgbClr val="617080"/>
                </a:solidFill>
              </a:rPr>
              <a:t>EDAD PROMEDIO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8CF3596-1834-4B28-A133-F93D45726DA3}"/>
              </a:ext>
            </a:extLst>
          </p:cNvPr>
          <p:cNvSpPr>
            <a:spLocks noGrp="1"/>
          </p:cNvSpPr>
          <p:nvPr/>
        </p:nvSpPr>
        <p:spPr>
          <a:xfrm>
            <a:off x="6477000" y="4048125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D99A21"/>
                </a:solidFill>
              </a:defRPr>
            </a:pPr>
            <a:r>
              <a:rPr sz="2550" b="1">
                <a:solidFill>
                  <a:srgbClr val="D99A21"/>
                </a:solidFill>
              </a:rPr>
              <a:t>31,6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82CC43F8-4395-4B0A-ADEA-959CEC08E2B4}"/>
              </a:ext>
            </a:extLst>
          </p:cNvPr>
          <p:cNvSpPr>
            <a:spLocks noGrp="1"/>
          </p:cNvSpPr>
          <p:nvPr/>
        </p:nvSpPr>
        <p:spPr>
          <a:xfrm>
            <a:off x="8858250" y="3571875"/>
            <a:ext cx="22860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9E2E8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B188366-BDAF-40A5-AC80-15AFF0D23880}"/>
              </a:ext>
            </a:extLst>
          </p:cNvPr>
          <p:cNvSpPr>
            <a:spLocks noGrp="1"/>
          </p:cNvSpPr>
          <p:nvPr/>
        </p:nvSpPr>
        <p:spPr>
          <a:xfrm>
            <a:off x="9048750" y="3743325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617080"/>
                </a:solidFill>
              </a:defRPr>
            </a:pPr>
            <a:r>
              <a:rPr sz="1200" b="1">
                <a:solidFill>
                  <a:srgbClr val="617080"/>
                </a:solidFill>
              </a:rPr>
              <a:t>RIESGO GUAYAS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199BF74-0448-4680-B5A9-C715691EB3E7}"/>
              </a:ext>
            </a:extLst>
          </p:cNvPr>
          <p:cNvSpPr>
            <a:spLocks noGrp="1"/>
          </p:cNvSpPr>
          <p:nvPr/>
        </p:nvSpPr>
        <p:spPr>
          <a:xfrm>
            <a:off x="9048750" y="4048125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B42318"/>
                </a:solidFill>
              </a:defRPr>
            </a:pPr>
            <a:r>
              <a:rPr sz="2550" b="1">
                <a:solidFill>
                  <a:srgbClr val="B42318"/>
                </a:solidFill>
              </a:rPr>
              <a:t>84,2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76CD08B-FC76-4E9A-9B45-34BD7ECC1EDF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17080"/>
                </a:solidFill>
              </a:defRPr>
            </a:pPr>
            <a:r>
              <a:rPr sz="975">
                <a:solidFill>
                  <a:srgbClr val="617080"/>
                </a:solidFill>
              </a:rPr>
              <a:t>SafeAnalytics EC | Proyecto Integrador 7A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52567F0-E8AC-44AB-8CBC-72EE1FE14E83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17080"/>
                </a:solidFill>
              </a:defRPr>
            </a:pPr>
            <a:r>
              <a:rPr sz="975">
                <a:solidFill>
                  <a:srgbClr val="61708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81455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075C8872-672B-4354-B680-04CF620F7900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2355B"/>
                </a:solidFill>
              </a:defRPr>
            </a:pPr>
            <a:r>
              <a:rPr sz="2850" b="1">
                <a:solidFill>
                  <a:srgbClr val="12355B"/>
                </a:solidFill>
              </a:rPr>
              <a:t>El modelo predictivo se eligió por explicabilidad y prudencia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51E9F380-38BB-4816-93A1-E7D01154D3FD}"/>
              </a:ext>
            </a:extLst>
          </p:cNvPr>
          <p:cNvSpPr>
            <a:spLocks noGrp="1"/>
          </p:cNvSpPr>
          <p:nvPr/>
        </p:nvSpPr>
        <p:spPr>
          <a:xfrm>
            <a:off x="781050" y="1762124"/>
            <a:ext cx="4793840" cy="3547293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9E2E8"/>
            </a:solidFill>
            <a:prstDash val="solid"/>
          </a:ln>
        </p:spPr>
        <p:txBody>
          <a:bodyPr/>
          <a:p/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AC5DB36-B456-453D-90E7-00A250C7645C}"/>
              </a:ext>
            </a:extLst>
          </p:cNvPr>
          <p:cNvSpPr>
            <a:spLocks noGrp="1"/>
          </p:cNvSpPr>
          <p:nvPr/>
        </p:nvSpPr>
        <p:spPr>
          <a:xfrm>
            <a:off x="1066800" y="20764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12355B"/>
                </a:solidFill>
              </a:defRPr>
            </a:pPr>
            <a:r>
              <a:rPr sz="2100" b="1">
                <a:solidFill>
                  <a:srgbClr val="12355B"/>
                </a:solidFill>
              </a:rPr>
              <a:t>Baseline predictivo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2FE6A3E-BF83-4D30-821D-0894F17C4C3F}"/>
              </a:ext>
            </a:extLst>
          </p:cNvPr>
          <p:cNvSpPr>
            <a:spLocks noGrp="1"/>
          </p:cNvSpPr>
          <p:nvPr/>
        </p:nvSpPr>
        <p:spPr>
          <a:xfrm>
            <a:off x="1066800" y="2714625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• Promedio histórico provincial.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45674A7-9B66-415B-9E12-377251C86DD4}"/>
              </a:ext>
            </a:extLst>
          </p:cNvPr>
          <p:cNvSpPr>
            <a:spLocks noGrp="1"/>
          </p:cNvSpPr>
          <p:nvPr/>
        </p:nvSpPr>
        <p:spPr>
          <a:xfrm>
            <a:off x="1066800" y="3190875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• Factor por día de semana.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378A14A-14BB-42A2-8304-E2C457F4D6AE}"/>
              </a:ext>
            </a:extLst>
          </p:cNvPr>
          <p:cNvSpPr>
            <a:spLocks noGrp="1"/>
          </p:cNvSpPr>
          <p:nvPr/>
        </p:nvSpPr>
        <p:spPr>
          <a:xfrm>
            <a:off x="1066800" y="3667125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• Tendencia reciente.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16F5F28-F6D4-4BAE-B941-B3A85D7C96B3}"/>
              </a:ext>
            </a:extLst>
          </p:cNvPr>
          <p:cNvSpPr>
            <a:spLocks noGrp="1"/>
          </p:cNvSpPr>
          <p:nvPr/>
        </p:nvSpPr>
        <p:spPr>
          <a:xfrm>
            <a:off x="1066800" y="4143375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17202A"/>
                </a:solidFill>
              </a:defRPr>
            </a:pPr>
            <a:r>
              <a:rPr sz="1650" b="0" dirty="0">
                <a:solidFill>
                  <a:srgbClr val="17202A"/>
                </a:solidFill>
              </a:rPr>
              <a:t>• Comparado con una Regresión Lineal (scikit-learn).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8436CDA-1456-4BF3-AF05-88480E713E76}"/>
              </a:ext>
            </a:extLst>
          </p:cNvPr>
          <p:cNvSpPr>
            <a:spLocks noGrp="1"/>
          </p:cNvSpPr>
          <p:nvPr/>
        </p:nvSpPr>
        <p:spPr>
          <a:xfrm>
            <a:off x="6191249" y="1762125"/>
            <a:ext cx="4201447" cy="3547294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9E2E8"/>
            </a:solidFill>
            <a:prstDash val="solid"/>
          </a:ln>
        </p:spPr>
        <p:txBody>
          <a:bodyPr/>
          <a:p/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2AF4CD0-94B0-4FD3-B88F-DDB3C35E6681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Evaluación · R² 0,53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F0ADD6A-569E-4C34-8BE0-C26C436F417F}"/>
              </a:ext>
            </a:extLst>
          </p:cNvPr>
          <p:cNvSpPr>
            <a:spLocks noGrp="1"/>
          </p:cNvSpPr>
          <p:nvPr/>
        </p:nvSpPr>
        <p:spPr>
          <a:xfrm>
            <a:off x="6477000" y="2705100"/>
            <a:ext cx="22860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9E2E8"/>
            </a:solidFill>
            <a:prstDash val="solid"/>
          </a:ln>
        </p:spPr>
        <p:txBody>
          <a:bodyPr/>
          <a:p/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1B34EE7-5DA1-4C66-A247-AF458D70999A}"/>
              </a:ext>
            </a:extLst>
          </p:cNvPr>
          <p:cNvSpPr>
            <a:spLocks noGrp="1"/>
          </p:cNvSpPr>
          <p:nvPr/>
        </p:nvSpPr>
        <p:spPr>
          <a:xfrm>
            <a:off x="6762750" y="2886075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617080"/>
                </a:solidFill>
              </a:defRPr>
            </a:pPr>
            <a:r>
              <a:rPr sz="1200" b="1">
                <a:solidFill>
                  <a:srgbClr val="617080"/>
                </a:solidFill>
              </a:rPr>
              <a:t>MAE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94243AC-A5EA-4455-9098-A8B6BA3B5507}"/>
              </a:ext>
            </a:extLst>
          </p:cNvPr>
          <p:cNvSpPr>
            <a:spLocks noGrp="1"/>
          </p:cNvSpPr>
          <p:nvPr/>
        </p:nvSpPr>
        <p:spPr>
          <a:xfrm>
            <a:off x="6762750" y="3190875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1,539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807F7D57-9A47-45F7-ABA5-6ABAE0B83FCA}"/>
              </a:ext>
            </a:extLst>
          </p:cNvPr>
          <p:cNvSpPr>
            <a:spLocks noGrp="1"/>
          </p:cNvSpPr>
          <p:nvPr/>
        </p:nvSpPr>
        <p:spPr>
          <a:xfrm>
            <a:off x="6572250" y="4000500"/>
            <a:ext cx="22860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9E2E8"/>
            </a:solidFill>
            <a:prstDash val="solid"/>
          </a:ln>
        </p:spPr>
        <p:txBody>
          <a:bodyPr/>
          <a:p/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6AED79A-8AE0-4DC1-88F0-FBF3CFC33BD8}"/>
              </a:ext>
            </a:extLst>
          </p:cNvPr>
          <p:cNvSpPr>
            <a:spLocks noGrp="1"/>
          </p:cNvSpPr>
          <p:nvPr/>
        </p:nvSpPr>
        <p:spPr>
          <a:xfrm>
            <a:off x="6762750" y="41719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617080"/>
                </a:solidFill>
              </a:defRPr>
            </a:pPr>
            <a:r>
              <a:rPr sz="1200" b="1">
                <a:solidFill>
                  <a:srgbClr val="617080"/>
                </a:solidFill>
              </a:rPr>
              <a:t>RMSE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F99C8A4-D299-4378-BA2C-EB41AC45961A}"/>
              </a:ext>
            </a:extLst>
          </p:cNvPr>
          <p:cNvSpPr>
            <a:spLocks noGrp="1"/>
          </p:cNvSpPr>
          <p:nvPr/>
        </p:nvSpPr>
        <p:spPr>
          <a:xfrm>
            <a:off x="6762750" y="4476750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D99A21"/>
                </a:solidFill>
              </a:defRPr>
            </a:pPr>
            <a:r>
              <a:rPr sz="2550" b="1">
                <a:solidFill>
                  <a:srgbClr val="D99A21"/>
                </a:solidFill>
              </a:rPr>
              <a:t>2,621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FB77462-BFCF-468B-A644-09C811342EEB}"/>
              </a:ext>
            </a:extLst>
          </p:cNvPr>
          <p:cNvSpPr>
            <a:spLocks noGrp="1"/>
          </p:cNvSpPr>
          <p:nvPr/>
        </p:nvSpPr>
        <p:spPr>
          <a:xfrm>
            <a:off x="1047750" y="5467350"/>
            <a:ext cx="971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7202A"/>
                </a:solidFill>
              </a:defRPr>
            </a:pPr>
            <a:r>
              <a:rPr sz="1800" b="1" dirty="0" err="1">
                <a:solidFill>
                  <a:srgbClr val="17202A"/>
                </a:solidFill>
              </a:rPr>
              <a:t>El baseline (R² 0,53) iguala a la Regresión Lineal (R² 0,53): se mantiene por ser más explicable y auditable.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A5C14BE-DF66-4C35-BF92-D79FA9F9C170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17080"/>
                </a:solidFill>
              </a:defRPr>
            </a:pPr>
            <a:r>
              <a:rPr sz="975">
                <a:solidFill>
                  <a:srgbClr val="617080"/>
                </a:solidFill>
              </a:rPr>
              <a:t>SafeAnalytics EC | Proyecto Integrador 7A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D2A6C30-3B16-49C7-8F8B-5F404A6224D9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17080"/>
                </a:solidFill>
              </a:defRPr>
            </a:pPr>
            <a:r>
              <a:rPr sz="975">
                <a:solidFill>
                  <a:srgbClr val="61708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55702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D23C169F-B054-47FB-A0D0-1502B73F44B5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2355B"/>
                </a:solidFill>
              </a:defRPr>
            </a:pPr>
            <a:r>
              <a:rPr sz="2850" b="1">
                <a:solidFill>
                  <a:srgbClr val="12355B"/>
                </a:solidFill>
              </a:rPr>
              <a:t>La gobernanza evita que la analítica se convierta en sesgo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86A5B44-2614-4D56-A64A-B879140E6CA1}"/>
              </a:ext>
            </a:extLst>
          </p:cNvPr>
          <p:cNvSpPr>
            <a:spLocks noGrp="1"/>
          </p:cNvSpPr>
          <p:nvPr/>
        </p:nvSpPr>
        <p:spPr>
          <a:xfrm>
            <a:off x="819150" y="1762125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• Los resultados se presentan agregados y no identifican personas.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7AA958B-EA24-4432-92AF-E7C05EE18F2F}"/>
              </a:ext>
            </a:extLst>
          </p:cNvPr>
          <p:cNvSpPr>
            <a:spLocks noGrp="1"/>
          </p:cNvSpPr>
          <p:nvPr/>
        </p:nvSpPr>
        <p:spPr>
          <a:xfrm>
            <a:off x="819150" y="2352675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• Variables sensibles se usan solo para caracterización estadística.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80FF56D-1654-4B48-BE06-794ADD55C443}"/>
              </a:ext>
            </a:extLst>
          </p:cNvPr>
          <p:cNvSpPr>
            <a:spLocks noGrp="1"/>
          </p:cNvSpPr>
          <p:nvPr/>
        </p:nvSpPr>
        <p:spPr>
          <a:xfrm>
            <a:off x="819150" y="2943225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• El modelo no criminaliza grupos ni territorios.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0B2C836-EA83-4200-918B-6A070B6D08D1}"/>
              </a:ext>
            </a:extLst>
          </p:cNvPr>
          <p:cNvSpPr>
            <a:spLocks noGrp="1"/>
          </p:cNvSpPr>
          <p:nvPr/>
        </p:nvSpPr>
        <p:spPr>
          <a:xfrm>
            <a:off x="819150" y="3533775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0">
                <a:solidFill>
                  <a:srgbClr val="17202A"/>
                </a:solidFill>
              </a:defRPr>
            </a:pPr>
            <a:r>
              <a:rPr sz="1875" b="0">
                <a:solidFill>
                  <a:srgbClr val="17202A"/>
                </a:solidFill>
              </a:rPr>
              <a:t>• Las recomendaciones complementan el criterio técnico institucional.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5365BD50-50EB-463A-AC8D-08BE7AEE7415}"/>
              </a:ext>
            </a:extLst>
          </p:cNvPr>
          <p:cNvSpPr>
            <a:spLocks noGrp="1"/>
          </p:cNvSpPr>
          <p:nvPr/>
        </p:nvSpPr>
        <p:spPr>
          <a:xfrm>
            <a:off x="819150" y="4762500"/>
            <a:ext cx="9906000" cy="959874"/>
          </a:xfrm>
          <a:prstGeom prst="roundRect">
            <a:avLst>
              <a:gd name="adj" fmla="val 11111"/>
            </a:avLst>
          </a:prstGeom>
          <a:solidFill>
            <a:srgbClr val="EEF7F6"/>
          </a:solidFill>
          <a:ln w="9525">
            <a:solidFill>
              <a:srgbClr val="D9E2E8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21D3A87-B551-4336-B27C-643B12CD6C48}"/>
              </a:ext>
            </a:extLst>
          </p:cNvPr>
          <p:cNvSpPr>
            <a:spLocks noGrp="1"/>
          </p:cNvSpPr>
          <p:nvPr/>
        </p:nvSpPr>
        <p:spPr>
          <a:xfrm>
            <a:off x="1066800" y="49720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Principio rector: la herramienta orienta decisiones, no reemplaza la responsabilidad humana.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1F0CC5B-88D2-4DA4-BDF4-B2794853CD0D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17080"/>
                </a:solidFill>
              </a:defRPr>
            </a:pPr>
            <a:r>
              <a:rPr sz="975">
                <a:solidFill>
                  <a:srgbClr val="617080"/>
                </a:solidFill>
              </a:rPr>
              <a:t>SafeAnalytics EC | Proyecto Integrador 7A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FA20B5C-E641-40D0-9DED-62ACE67A5E6D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17080"/>
                </a:solidFill>
              </a:defRPr>
            </a:pPr>
            <a:r>
              <a:rPr sz="975">
                <a:solidFill>
                  <a:srgbClr val="61708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67419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476FCADD-8B06-46C0-933F-015B5E501E3D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885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12355B"/>
                </a:solidFill>
              </a:defRPr>
            </a:pPr>
            <a:r>
              <a:rPr sz="2850" b="1">
                <a:solidFill>
                  <a:srgbClr val="12355B"/>
                </a:solidFill>
              </a:rPr>
              <a:t>SafeAnalytics EC deja una base lista para decisión y mejora continua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8886FDD-A759-4903-8294-A29A6FFCBAF6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971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0">
                <a:solidFill>
                  <a:srgbClr val="17202A"/>
                </a:solidFill>
              </a:defRPr>
            </a:pPr>
            <a:r>
              <a:rPr sz="1950" b="0">
                <a:solidFill>
                  <a:srgbClr val="17202A"/>
                </a:solidFill>
              </a:rPr>
              <a:t>• ETL reproducible y modelo estrella listo para Power BI.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15FE8CC-3401-4A26-8E43-10453074A2FC}"/>
              </a:ext>
            </a:extLst>
          </p:cNvPr>
          <p:cNvSpPr>
            <a:spLocks noGrp="1"/>
          </p:cNvSpPr>
          <p:nvPr/>
        </p:nvSpPr>
        <p:spPr>
          <a:xfrm>
            <a:off x="876300" y="2305050"/>
            <a:ext cx="971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0">
                <a:solidFill>
                  <a:srgbClr val="17202A"/>
                </a:solidFill>
              </a:defRPr>
            </a:pPr>
            <a:r>
              <a:rPr sz="1950" b="0">
                <a:solidFill>
                  <a:srgbClr val="17202A"/>
                </a:solidFill>
              </a:rPr>
              <a:t>• Dashboard con KPIs, mapa, riesgo territorial y simulador.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FAEB229-DC6D-497C-9E89-5790BBAC3ABF}"/>
              </a:ext>
            </a:extLst>
          </p:cNvPr>
          <p:cNvSpPr>
            <a:spLocks noGrp="1"/>
          </p:cNvSpPr>
          <p:nvPr/>
        </p:nvSpPr>
        <p:spPr>
          <a:xfrm>
            <a:off x="876300" y="2895600"/>
            <a:ext cx="971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0">
                <a:solidFill>
                  <a:srgbClr val="17202A"/>
                </a:solidFill>
              </a:defRPr>
            </a:pPr>
            <a:r>
              <a:rPr sz="1950" b="0">
                <a:solidFill>
                  <a:srgbClr val="17202A"/>
                </a:solidFill>
              </a:rPr>
              <a:t>• Informe técnico y explicación del proyecto para auditoría académica.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65158D6-93FB-4084-A605-F261658A695D}"/>
              </a:ext>
            </a:extLst>
          </p:cNvPr>
          <p:cNvSpPr>
            <a:spLocks noGrp="1"/>
          </p:cNvSpPr>
          <p:nvPr/>
        </p:nvSpPr>
        <p:spPr>
          <a:xfrm>
            <a:off x="876300" y="3486150"/>
            <a:ext cx="971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0">
                <a:solidFill>
                  <a:srgbClr val="17202A"/>
                </a:solidFill>
              </a:defRPr>
            </a:pPr>
            <a:r>
              <a:rPr sz="1950" b="0">
                <a:solidFill>
                  <a:srgbClr val="17202A"/>
                </a:solidFill>
              </a:rPr>
              <a:t>• Modelo validado contra Regresión Lineal (R² 0,53); mejora futura: más meses y tasas por provincia.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683DC31-C396-4EF0-9620-66A34F7B49C2}"/>
              </a:ext>
            </a:extLst>
          </p:cNvPr>
          <p:cNvSpPr>
            <a:spLocks noGrp="1"/>
          </p:cNvSpPr>
          <p:nvPr/>
        </p:nvSpPr>
        <p:spPr>
          <a:xfrm>
            <a:off x="876300" y="4857750"/>
            <a:ext cx="9239250" cy="933450"/>
          </a:xfrm>
          <a:prstGeom prst="roundRect">
            <a:avLst>
              <a:gd name="adj" fmla="val 11111"/>
            </a:avLst>
          </a:prstGeom>
          <a:solidFill>
            <a:srgbClr val="12355B"/>
          </a:solidFill>
          <a:ln w="9525">
            <a:solidFill>
              <a:srgbClr val="D9E2E8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80C455F-E323-401F-BB67-AF78C44FE75A}"/>
              </a:ext>
            </a:extLst>
          </p:cNvPr>
          <p:cNvSpPr>
            <a:spLocks noGrp="1"/>
          </p:cNvSpPr>
          <p:nvPr/>
        </p:nvSpPr>
        <p:spPr>
          <a:xfrm>
            <a:off x="1162050" y="50673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Cierre: los datos dejan de ser reportes aislados y se convierten en inteligencia accionable.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FD4474D-231A-45D9-A185-74C2785869F1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17080"/>
                </a:solidFill>
              </a:defRPr>
            </a:pPr>
            <a:r>
              <a:rPr sz="975">
                <a:solidFill>
                  <a:srgbClr val="617080"/>
                </a:solidFill>
              </a:rPr>
              <a:t>SafeAnalytics EC | Proyecto Integrador 7A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98CC02E-1A16-4DC3-8CF6-61411D7A4A6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>
                <a:solidFill>
                  <a:srgbClr val="617080"/>
                </a:solidFill>
              </a:defRPr>
            </a:pPr>
            <a:r>
              <a:rPr sz="975">
                <a:solidFill>
                  <a:srgbClr val="61708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373387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519</Words>
  <Application>Microsoft Office PowerPoint</Application>
  <DocSecurity>0</DocSecurity>
  <PresentationFormat>Panorámica</PresentationFormat>
  <Paragraphs>98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1" baseType="lpstr"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GUTIERREZ LOOR WALTHER JAVIER</cp:lastModifiedBy>
  <cp:revision>1</cp:revision>
  <dcterms:created xsi:type="dcterms:W3CDTF">2026-07-09T23:09:52Z</dcterms:created>
  <dcterms:modified xsi:type="dcterms:W3CDTF">2026-07-09T23:50:36Z</dcterms:modified>
</cp:coreProperties>
</file>